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6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注塑机台最优工艺卡分析系统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0175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BD5EE"/>
                </a:solidFill>
                <a:latin typeface="微软雅黑" panose="020B0503020204020204" charset="-122"/>
              </a:defRPr>
            </a:pPr>
            <a:r>
              <a:t>从历史数据中自动发掘最优工艺参数</a:t>
            </a:r>
            <a:br/>
            <a:r>
              <a:t>让每一台机器都有"最优配方"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86200"/>
            <a:ext cx="393192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206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BBDD"/>
                </a:solidFill>
                <a:latin typeface="微软雅黑" panose="020B0503020204020204" charset="-122"/>
              </a:defRPr>
            </a:pPr>
            <a:r>
              <a:t>业务对接演示  ·  2026年7月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💡 这个系统做什么？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183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从历史生产数据中，自动找出每台机器跑得最好的那段时间，</a:t>
            </a:r>
            <a:br/>
            <a:r>
              <a:t>把当时的工艺参数提取出来，作为这台机器的"最优配方"推荐给你。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9418320" cy="1097280"/>
          </a:xfrm>
          <a:prstGeom prst="roundRect">
            <a:avLst/>
          </a:prstGeom>
          <a:noFill/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65760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🎯  就像看行车记录仪 —— 找到你开车最稳、最省油的那段路，</a:t>
            </a:r>
            <a:br/>
            <a:r>
              <a:t>告诉你当时的油门、转速。我们做的就是对注塑机的"行车记录仪回放"。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解决了什么痛点？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4572000" cy="59436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447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😰  新师傅不熟悉机台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1481328"/>
            <a:ext cx="50292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4754880" cy="5943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447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✅  → 系统直接给出推荐值+范围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12848"/>
            <a:ext cx="4572000" cy="59436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86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😰  老师傅经验无法传承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2322576"/>
            <a:ext cx="50292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212848"/>
            <a:ext cx="4754880" cy="5943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✅  → 数据固化成可传承的工艺卡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54096"/>
            <a:ext cx="4572000" cy="59436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272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😰  几十台机不知道哪台差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69280" y="3163824"/>
            <a:ext cx="50292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3054096"/>
            <a:ext cx="4754880" cy="5943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272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✅  → 一键OEE排名，好坏立现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95344"/>
            <a:ext cx="4572000" cy="59436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6849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😰  OEE低但不知道原因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669280" y="4005072"/>
            <a:ext cx="50292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3895344"/>
            <a:ext cx="4754880" cy="5943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✅  → 离线/待机/报警分类归因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736592"/>
            <a:ext cx="4572000" cy="59436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80974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😰  不知哪个参数影响效率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669280" y="4846320"/>
            <a:ext cx="50292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60" y="4736592"/>
            <a:ext cx="4754880" cy="5943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80974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✅  → 相关性量化分析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577840"/>
            <a:ext cx="4572000" cy="59436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65099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😰  手工翻Excel费时费力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669280" y="5687568"/>
            <a:ext cx="50292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0" y="5577840"/>
            <a:ext cx="4754880" cy="5943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6509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✅  → 全自动扫描，几秒出结果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89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🗺️ 系统四大模块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3220" y="140716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1820" y="1544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① 数据导入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820" y="1910080"/>
            <a:ext cx="2148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6273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上传两个Excel</a:t>
            </a:r>
            <a:br/>
            <a:r>
              <a:t>自动清洗关联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9300" y="140716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7900" y="1544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② 工艺趋势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7900" y="1910080"/>
            <a:ext cx="2148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6273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趋势图 · 多机台对比</a:t>
            </a:r>
            <a:br/>
            <a:r>
              <a:t>参数-OEE相关性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5380" y="140716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3980" y="1544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③ 稼动率分析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980" y="1910080"/>
            <a:ext cx="2148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6273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热力图 · 不稼动归因</a:t>
            </a:r>
            <a:br/>
            <a:r>
              <a:t>开合模vs稼动率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1460" y="140716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0060" y="1544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④ 最优工艺卡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0060" y="1910080"/>
            <a:ext cx="2148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6273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滑动扫描 → 最优时段</a:t>
            </a:r>
            <a:br/>
            <a:r>
              <a:t>→ 推荐参数 + 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10405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操作流程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59045"/>
            <a:ext cx="2560320" cy="5943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上传两报表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035808" y="5168773"/>
            <a:ext cx="320040" cy="32004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83280" y="5059045"/>
            <a:ext cx="2560320" cy="5943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浏览趋势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61888" y="5168773"/>
            <a:ext cx="320040" cy="32004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5059045"/>
            <a:ext cx="2560320" cy="5943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分析效率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87968" y="5168773"/>
            <a:ext cx="320040" cy="32004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5059045"/>
            <a:ext cx="2560320" cy="5943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一键生成最优工艺卡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📥 ① 数据导入 — 喂数据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📄 工艺趋势报表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572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每台机台 · 每小时的工艺参数值</a:t>
            </a:r>
          </a:p>
          <a:p>
            <a:pPr>
              <a:spcAft>
                <a:spcPts val="400"/>
              </a:spcAft>
              <a:defRPr sz="600" b="0">
                <a:solidFill>
                  <a:srgbClr val="26273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射胶参数  压力 / 速度 / 位置 × 5段</a:t>
            </a:r>
          </a:p>
          <a:p>
            <a:pPr>
              <a:spcAft>
                <a:spcPts val="400"/>
              </a:spcAft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保压参数  压力 / 速度 / 时间 × 3段</a:t>
            </a:r>
          </a:p>
          <a:p>
            <a:pPr>
              <a:spcAft>
                <a:spcPts val="400"/>
              </a:spcAft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温度参数  一段 ~ 六段</a:t>
            </a:r>
          </a:p>
          <a:p>
            <a:pPr>
              <a:spcAft>
                <a:spcPts val="400"/>
              </a:spcAft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其他      储料背压、成型周期等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📄 稼动率小时报表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572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每台机台 · 每小时的运行效率</a:t>
            </a:r>
          </a:p>
          <a:p>
            <a:pPr>
              <a:spcAft>
                <a:spcPts val="400"/>
              </a:spcAft>
              <a:defRPr sz="600" b="0">
                <a:solidFill>
                  <a:srgbClr val="26273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设备稼动率 (OEE)</a:t>
            </a:r>
          </a:p>
          <a:p>
            <a:pPr>
              <a:spcAft>
                <a:spcPts val="400"/>
              </a:spcAft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有效生产时长</a:t>
            </a:r>
          </a:p>
          <a:p>
            <a:pPr>
              <a:spcAft>
                <a:spcPts val="400"/>
              </a:spcAft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离线 / 待机 / 报警时长（停机归因）</a:t>
            </a:r>
          </a:p>
          <a:p>
            <a:pPr>
              <a:spcAft>
                <a:spcPts val="400"/>
              </a:spcAft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开合模次数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5303520" cy="50292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✔  日期格式自动标准化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480560"/>
            <a:ext cx="5303520" cy="50292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✔  两表自动关联匹配（机台号+日期+时间段）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5303520" cy="50292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✔  异常数据自动标记（负数 / 超高值）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120640"/>
            <a:ext cx="5303520" cy="50292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✔  数据自动缓存，下次打开无需重新上传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📈 ② 工艺趋势 — 看参数怎么变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31520" y="1463040"/>
            <a:ext cx="33832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📈 单机台趋势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960120" y="19659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选一台机器</a:t>
            </a:r>
            <a:br/>
            <a:r>
              <a:t>看参数随时间变化曲线</a:t>
            </a: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4572000" y="1463040"/>
            <a:ext cx="33832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🔄 多机台对比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4800600" y="19659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选多台机器</a:t>
            </a:r>
            <a:br/>
            <a:r>
              <a:t>对比同一个参数差异</a:t>
            </a: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8412480" y="1463040"/>
            <a:ext cx="3383280" cy="29597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🔗 参数-OEE相关性</a:t>
            </a: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8641080" y="19659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量化每个参数</a:t>
            </a:r>
            <a:br/>
            <a:r>
              <a:t>对效率的影响大小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💼 业务价值</a:t>
            </a:r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640080" y="5074920"/>
            <a:ext cx="3383280" cy="59436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波动大的参数 → 重点管控</a:t>
            </a:r>
          </a:p>
        </p:txBody>
      </p:sp>
      <p:sp>
        <p:nvSpPr>
          <p:cNvPr id="17" name="Rounded Rectangle 16"/>
          <p:cNvSpPr/>
          <p:nvPr>
            <p:custDataLst>
              <p:tags r:id="rId8"/>
            </p:custDataLst>
          </p:nvPr>
        </p:nvSpPr>
        <p:spPr>
          <a:xfrm>
            <a:off x="4480560" y="5074920"/>
            <a:ext cx="3383280" cy="59436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同型号差异大 → 排查原因</a:t>
            </a:r>
          </a:p>
        </p:txBody>
      </p:sp>
      <p:sp>
        <p:nvSpPr>
          <p:cNvPr id="18" name="Rounded Rectangle 17"/>
          <p:cNvSpPr/>
          <p:nvPr>
            <p:custDataLst>
              <p:tags r:id="rId9"/>
            </p:custDataLst>
          </p:nvPr>
        </p:nvSpPr>
        <p:spPr>
          <a:xfrm>
            <a:off x="8321040" y="5074920"/>
            <a:ext cx="3383280" cy="59436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强相关参数 → 调机优先关注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7415"/>
            <a:ext cx="10332720" cy="599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🔗 相关性解读：绿色=正相关（参数大→OEE高）  |  红色=负相关（参数大→OEE低）</a:t>
            </a:r>
            <a:br/>
            <a:r>
              <a:t>    绝对值越大 → 影响越大。比如"成型周期"与OEE负相关：周期越长，效率越低。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6/16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285" y="2847340"/>
            <a:ext cx="3002915" cy="134556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1"/>
          <a:srcRect r="760" b="5399"/>
          <a:stretch>
            <a:fillRect/>
          </a:stretch>
        </p:blipFill>
        <p:spPr>
          <a:xfrm>
            <a:off x="4717415" y="2697480"/>
            <a:ext cx="3068320" cy="1557655"/>
          </a:xfrm>
          <a:prstGeom prst="round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17915" y="2606040"/>
            <a:ext cx="277241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⏱️ ③ 稼动率分析 — 看效率怎么样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07005" cy="34505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🔥 稼动率热力图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286000" cy="7188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颜色 = OEE高低</a:t>
            </a:r>
            <a:br/>
            <a:r>
              <a:t>红=差 黄=中 绿=好</a:t>
            </a:r>
            <a:br/>
            <a:r>
              <a:t>一眼定位问题时段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63040"/>
            <a:ext cx="2743200" cy="34455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🥧 不稼动归因饼图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65960"/>
            <a:ext cx="2286000" cy="9048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离线 待机 报警</a:t>
            </a:r>
            <a:br/>
            <a:r>
              <a:t>三类停机原因占比</a:t>
            </a:r>
            <a:br/>
            <a:r>
              <a:t>搞清楚OEE损失的第一责任人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743200" cy="34505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📊 按天对比柱状图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2286000" cy="759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每天每小时一组柱子</a:t>
            </a:r>
            <a:br/>
            <a:r>
              <a:t>不同日期颜色区分</a:t>
            </a:r>
            <a:br/>
            <a:r>
              <a:t>发现黄金时段和低谷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743200" cy="34740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🔵 开合模 vs 稼动率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965960"/>
            <a:ext cx="2286000" cy="759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产量 vs 效率的关系</a:t>
            </a:r>
            <a:br/>
            <a:r>
              <a:t>蓝点=正常 红X=异常</a:t>
            </a:r>
            <a:br/>
            <a:r>
              <a:t>排查传感器故障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💡 核心价值："知道OEE低" → "知道为什么低、什么时间最低、哪台机器最差"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7/16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25" y="3093085"/>
            <a:ext cx="2630170" cy="138366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25" y="2933065"/>
            <a:ext cx="2032635" cy="188214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r="1571" b="379"/>
          <a:stretch>
            <a:fillRect/>
          </a:stretch>
        </p:blipFill>
        <p:spPr>
          <a:xfrm>
            <a:off x="6255385" y="3284855"/>
            <a:ext cx="2625725" cy="1334770"/>
          </a:xfrm>
          <a:prstGeom prst="round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 r="-598" b="6972"/>
          <a:stretch>
            <a:fillRect/>
          </a:stretch>
        </p:blipFill>
        <p:spPr>
          <a:xfrm>
            <a:off x="9199245" y="3433445"/>
            <a:ext cx="2671445" cy="1186180"/>
          </a:xfrm>
          <a:prstGeom prst="round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🏆 ④ 最优工艺卡 — 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三步生成最优工艺卡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291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6273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🔍  ① 扫描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逐小时扫描历史数据</a:t>
            </a:r>
            <a:br/>
            <a:r>
              <a:t>找出所有连续OEE达标的时段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103120"/>
            <a:ext cx="3291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6273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✅  ② 选取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6517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挑出持续时间最长的窗口</a:t>
            </a:r>
            <a:br/>
            <a:r>
              <a:t>（同样长选OEE最高的）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103120"/>
            <a:ext cx="3291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6273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86968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📋  ③ 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6517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取窗口内参数的中位数</a:t>
            </a:r>
            <a:br/>
            <a:r>
              <a:t>作为推荐值 + 建议范围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输出示例：一张完整的最优工艺卡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4480560"/>
          <a:ext cx="10332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参数名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推荐值⭐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建议下限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建议上限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射胶压力一段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85.5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84.0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87.3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保压压力一段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65.0 bar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63.0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67.0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温度二段值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235.0 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233.0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238.0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成型周期（s）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28.5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27.8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2730"/>
                          </a:solidFill>
                          <a:latin typeface="微软雅黑" panose="020B0503020204020204" charset="-122"/>
                        </a:defRPr>
                      </a:pPr>
                      <a:r>
                        <a:t>29.3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🔍 核心算法：怎么找到跑得最好的那段？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条件：连续 ≥ 12 小时，每小时 OEE ≥ 90%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515600" cy="82296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场景①：找到了连续 6 小时达标 → 不够 12 小时 ❌ 放弃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92%  95%  91%  93%  94%  90%  78%  62%  ...     只有6小时达标，不满足条件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515600" cy="8229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场景②：找到了连续 13 小时达标 → ≥ 12 小时 ✅ 这就是最优窗口！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92%  95%  91%  93%  94%  90%  91%  93%  95%  92%  91%  90%  93%   连续13小时！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三个关键设计保障结果可靠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320040" cy="32004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92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数据缺口自动检测：中间缺失超过1.5小时会自动断开，确保"连续"是真连续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532120"/>
            <a:ext cx="320040" cy="32004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4864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异常OEE裁剪处理：负数或超高值(&gt;150%)先裁剪到0~100%，避免传感器故障干扰判定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6126480"/>
            <a:ext cx="320040" cy="32004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608075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多窗口智能选优：多窗口时优先选持续时间最长的；同样长选平均OEE最高的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📊 为什么推荐值用"中位数"而不是"平均值"？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场景：窗口内某参数13个读数，其中1个是传感器瞬间跳变（异常高值）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9418320" cy="64008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82  ·  84  ·  85  ·  85  ·  85  ·  86  ·  86  ·  87  ·  87  ·  88  ·  89  ·  90  ·  120(异常↑)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4846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❌ 用平均值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29000"/>
            <a:ext cx="4389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总和 / 13 = 88.8</a:t>
            </a:r>
          </a:p>
          <a:p>
            <a:pPr>
              <a:spcAft>
                <a:spcPts val="400"/>
              </a:spcAft>
              <a:defRPr sz="800" b="0">
                <a:solidFill>
                  <a:srgbClr val="26273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被 120 拉高了近 3 个 bar！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按 88.8 去设 → 压力偏大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可能导致飞边、浪费材料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26080"/>
            <a:ext cx="4846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✅ 用中位数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429000"/>
            <a:ext cx="4389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排序取中间 = 86.0</a:t>
            </a:r>
          </a:p>
          <a:p>
            <a:pPr>
              <a:spcAft>
                <a:spcPts val="400"/>
              </a:spcAft>
              <a:defRPr sz="800" b="0">
                <a:solidFill>
                  <a:srgbClr val="26273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完全不受 120 的影响！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按 86.0 去设 → 真实典型值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安全、稳定、靠谱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943600"/>
            <a:ext cx="7589520" cy="54864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💡 中位数 = 不受极端值干扰 = 代表"大多数时候"的真实值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💼 业务应用场景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274320" y="146304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🆕  新品上线</a:t>
            </a:r>
            <a:br/>
            <a:r>
              <a:t>设定首版参数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502920" y="2286000"/>
            <a:ext cx="1691640" cy="17659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历史最优值为基线</a:t>
            </a:r>
            <a:br/>
            <a:r>
              <a:t>建议范围内微调</a:t>
            </a:r>
            <a:br/>
            <a:r>
              <a:t>减少试错成本</a:t>
            </a: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2651760" y="146304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600200"/>
            <a:ext cx="1722755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🔧  效率突然变差需要排查原因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2917190" y="2286000"/>
            <a:ext cx="1691640" cy="21767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定位波动大的参数</a:t>
            </a:r>
            <a:br/>
            <a:r>
              <a:t>找出强相关参数</a:t>
            </a:r>
            <a:br/>
            <a:r>
              <a:t>对比当前值 vs 推荐值</a:t>
            </a: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5029200" y="146304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600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📊  多台同型号</a:t>
            </a:r>
            <a:br/>
            <a:r>
              <a:t>效率差异大</a:t>
            </a: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5257800" y="2286000"/>
            <a:ext cx="1691640" cy="2381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OEE排名看谁好谁差</a:t>
            </a:r>
            <a:br/>
            <a:r>
              <a:t>参数对比找差异点</a:t>
            </a:r>
            <a:br/>
            <a:r>
              <a:t>最优工艺卡横向对比</a:t>
            </a:r>
          </a:p>
        </p:txBody>
      </p:sp>
      <p:sp>
        <p:nvSpPr>
          <p:cNvPr id="15" name="Rounded Rectangle 14"/>
          <p:cNvSpPr/>
          <p:nvPr>
            <p:custDataLst>
              <p:tags r:id="rId7"/>
            </p:custDataLst>
          </p:nvPr>
        </p:nvSpPr>
        <p:spPr>
          <a:xfrm>
            <a:off x="7406640" y="146304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600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📝  周会月会</a:t>
            </a:r>
            <a:br/>
            <a:r>
              <a:t>汇报材料</a:t>
            </a:r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7635240" y="2214245"/>
            <a:ext cx="1691640" cy="2185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OEE排名图 → 进PPT</a:t>
            </a:r>
            <a:br/>
            <a:r>
              <a:t>不稼动饼图 → 分析原因</a:t>
            </a:r>
            <a:br/>
            <a:r>
              <a:t>工艺卡 → 展示改善成果</a:t>
            </a:r>
          </a:p>
        </p:txBody>
      </p:sp>
      <p:sp>
        <p:nvSpPr>
          <p:cNvPr id="18" name="Rounded Rectangle 17"/>
          <p:cNvSpPr/>
          <p:nvPr>
            <p:custDataLst>
              <p:tags r:id="rId9"/>
            </p:custDataLst>
          </p:nvPr>
        </p:nvSpPr>
        <p:spPr>
          <a:xfrm>
            <a:off x="9784080" y="146304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1600200"/>
            <a:ext cx="169164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👨‍🏫  新员工培训</a:t>
            </a:r>
            <a:r>
              <a:rPr lang="zh-CN"/>
              <a:t>，</a:t>
            </a:r>
            <a:r>
              <a:t>快速上手</a:t>
            </a: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10012680" y="2286000"/>
            <a:ext cx="1691640" cy="2202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最优工艺卡 = 标准参考</a:t>
            </a:r>
            <a:br/>
            <a:r>
              <a:t>减少"跟师傅调3个月"</a:t>
            </a:r>
            <a:br/>
            <a:r>
              <a:t>降低人员流失冲击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🤝 业务对齐：需要达成共识的关键认知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推荐值 ≠ 唯一正确答案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推荐值是"历史最好时段的常用值"，不是绝对的。不同产品/模具/原料需微调，把它当"起点"不是"终点"。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69748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数据越多 → 推荐越准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3天数据能找到一个"看起来不错"的窗口；7天数据"比较可靠"；30天数据"非常靠谱"。建议持续积累。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相关性 ≠ 因果性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系统告诉你"参数X和OEE强相关"，不等于"调X一定改善OEE"。需结合工艺知识判断。它是"帮你发现候选参数"的工具。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166360"/>
            <a:ext cx="365760" cy="3657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074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数据质量决定结果质量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数采系统经常断、经常出异常 → 分析结果可信度下降。系统已做了异常标记，但源头准确性最关键。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❓ 常见问题 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Q1  系统能替代老师傅的经验吗？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不能，但能辅助。系统把数据里的"最优值"找出来，师傅做判断和微调。系统+经验=最优组合。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Q2  半夜无人值守的数据更可靠吗？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7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恰恰更可靠。无人时段调试少、干扰少，参数更稳定。高OEE说明参数组合本身就好。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Q3  换模具/换材料后还能用吗？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不能直接用，但可作为参考基线。积累新数据后重新分析，生成对应版本的最优工艺卡。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Q4  有些机台找不到最优窗口怎么办？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说明这台机在数据期内没有真正稳定运行过。降低标准（80%+6h）再试；仍找不到→需要重点整治。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微软雅黑" panose="020B0503020204020204" charset="-122"/>
              </a:defRPr>
            </a:pPr>
            <a:r>
              <a:t>Q5  多久更新一次？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150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2730"/>
                </a:solidFill>
                <a:latin typeface="微软雅黑" panose="020B0503020204020204" charset="-122"/>
              </a:defRPr>
            </a:pPr>
            <a:r>
              <a:t>建议每周积累新数据后跑一次。重大变更（换模/大修/换料）后也重新跑。全车间几十台也就几十秒。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73152" cy="45720"/>
          </a:xfrm>
          <a:prstGeom prst="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📌 关键信息速记卡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651760" cy="50292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需要什么数据？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651760" cy="109728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两个Excel：</a:t>
            </a:r>
            <a:br/>
            <a:r>
              <a:t>工艺参数 + 稼动率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651760" cy="50292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怎么判"跑得好"？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651760" cy="109728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OEE ≥ 90%</a:t>
            </a:r>
            <a:br/>
            <a:r>
              <a:t>连续 ≥ 12小时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651760" cy="50292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怎么选最优时段？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2651760" cy="109728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找连续达标时段</a:t>
            </a:r>
            <a:br/>
            <a:r>
              <a:t>选持续时间最长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463040"/>
            <a:ext cx="2651760" cy="50292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推荐值怎么算？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103120"/>
            <a:ext cx="2651760" cy="109728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窗口内中位数</a:t>
            </a:r>
            <a:br/>
            <a:r>
              <a:t>不受极端值影响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2651760" cy="50292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建议范围怎么算？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2651760" cy="109728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下限 Q25</a:t>
            </a:r>
            <a:br/>
            <a:r>
              <a:t>上限 Q75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931920"/>
            <a:ext cx="2651760" cy="50292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能分析多少台？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4572000"/>
            <a:ext cx="2651760" cy="109728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不限</a:t>
            </a:r>
            <a:br/>
            <a:r>
              <a:t>一键全车间扫描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2651760" cy="50292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多久更新一次？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2651760" cy="109728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每周一次</a:t>
            </a:r>
            <a:br/>
            <a:r>
              <a:t>重大变更后更新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3931920"/>
            <a:ext cx="2651760" cy="50292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结果能导出吗？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4572000"/>
            <a:ext cx="2651760" cy="109728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55585"/>
                </a:solidFill>
                <a:latin typeface="微软雅黑" panose="020B0503020204020204" charset="-122"/>
              </a:defRPr>
            </a:pPr>
            <a:r>
              <a:t>可下载CSV</a:t>
            </a:r>
            <a:br/>
            <a:r>
              <a:t>Excel直接打开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9418320" cy="1097280"/>
          </a:xfrm>
          <a:prstGeom prst="roundRect">
            <a:avLst/>
          </a:prstGeom>
          <a:solidFill>
            <a:srgbClr val="1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这个系统不替代你的经验，</a:t>
            </a:r>
            <a:br/>
            <a:r>
              <a:t>它帮你把隐藏在几十万行历史数据里的"最优跑法"找出来，</a:t>
            </a:r>
            <a:br/>
            <a:r>
              <a:t>变成一张看得见、用得上、可传承的工艺卡。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5029200"/>
            <a:ext cx="393192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5EE"/>
                </a:solidFill>
                <a:latin typeface="微软雅黑" panose="020B0503020204020204" charset="-122"/>
              </a:defRPr>
            </a:pPr>
            <a:r>
              <a:t>感谢聆听 · 欢迎提问 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1.2,&quot;left&quot;:50.4,&quot;top&quot;:115.2,&quot;width&quot;:878.4}"/>
</p:tagLst>
</file>

<file path=ppt/tags/tag2.xml><?xml version="1.0" encoding="utf-8"?>
<p:tagLst xmlns:p="http://schemas.openxmlformats.org/presentationml/2006/main">
  <p:tag name="KSO_WM_DIAGRAM_VIRTUALLY_FRAME" val="{&quot;height&quot;:331.2,&quot;left&quot;:50.4,&quot;top&quot;:115.2,&quot;width&quot;:878.4}"/>
</p:tagLst>
</file>

<file path=ppt/tags/tag3.xml><?xml version="1.0" encoding="utf-8"?>
<p:tagLst xmlns:p="http://schemas.openxmlformats.org/presentationml/2006/main">
  <p:tag name="KSO_WM_DIAGRAM_VIRTUALLY_FRAME" val="{&quot;height&quot;:331.2,&quot;left&quot;:50.4,&quot;top&quot;:115.2,&quot;width&quot;:878.4}"/>
</p:tagLst>
</file>

<file path=ppt/tags/tag4.xml><?xml version="1.0" encoding="utf-8"?>
<p:tagLst xmlns:p="http://schemas.openxmlformats.org/presentationml/2006/main">
  <p:tag name="KSO_WM_DIAGRAM_VIRTUALLY_FRAME" val="{&quot;height&quot;:331.2,&quot;left&quot;:50.4,&quot;top&quot;:115.2,&quot;width&quot;:878.4}"/>
</p:tagLst>
</file>

<file path=ppt/tags/tag5.xml><?xml version="1.0" encoding="utf-8"?>
<p:tagLst xmlns:p="http://schemas.openxmlformats.org/presentationml/2006/main">
  <p:tag name="KSO_WM_DIAGRAM_VIRTUALLY_FRAME" val="{&quot;height&quot;:331.2,&quot;left&quot;:50.4,&quot;top&quot;:115.2,&quot;width&quot;:878.4}"/>
</p:tagLst>
</file>

<file path=ppt/tags/tag6.xml><?xml version="1.0" encoding="utf-8"?>
<p:tagLst xmlns:p="http://schemas.openxmlformats.org/presentationml/2006/main">
  <p:tag name="KSO_WM_DIAGRAM_VIRTUALLY_FRAME" val="{&quot;height&quot;:331.2,&quot;left&quot;:50.4,&quot;top&quot;:115.2,&quot;width&quot;:878.4}"/>
</p:tagLst>
</file>

<file path=ppt/tags/tag7.xml><?xml version="1.0" encoding="utf-8"?>
<p:tagLst xmlns:p="http://schemas.openxmlformats.org/presentationml/2006/main">
  <p:tag name="KSO_WM_DIAGRAM_VIRTUALLY_FRAME" val="{&quot;height&quot;:331.2,&quot;left&quot;:50.4,&quot;top&quot;:115.2,&quot;width&quot;:878.4}"/>
</p:tagLst>
</file>

<file path=ppt/tags/tag8.xml><?xml version="1.0" encoding="utf-8"?>
<p:tagLst xmlns:p="http://schemas.openxmlformats.org/presentationml/2006/main">
  <p:tag name="KSO_WM_DIAGRAM_VIRTUALLY_FRAME" val="{&quot;height&quot;:331.2,&quot;left&quot;:50.4,&quot;top&quot;:115.2,&quot;width&quot;:878.4}"/>
</p:tagLst>
</file>

<file path=ppt/tags/tag9.xml><?xml version="1.0" encoding="utf-8"?>
<p:tagLst xmlns:p="http://schemas.openxmlformats.org/presentationml/2006/main">
  <p:tag name="KSO_WM_DIAGRAM_VIRTUALLY_FRAME" val="{&quot;height&quot;:331.2,&quot;left&quot;:50.4,&quot;top&quot;:115.2,&quot;width&quot;:878.4}"/>
</p:tagLst>
</file>

<file path=ppt/tags/tag10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ags/tag11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ags/tag12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ags/tag13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ags/tag14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ags/tag15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ags/tag16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ags/tag17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ags/tag18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ags/tag19.xml><?xml version="1.0" encoding="utf-8"?>
<p:tagLst xmlns:p="http://schemas.openxmlformats.org/presentationml/2006/main">
  <p:tag name="KSO_WM_DIAGRAM_VIRTUALLY_FRAME" val="{&quot;height&quot;:331.2,&quot;left&quot;:21.6,&quot;top&quot;:115.2,&quot;width&quot;:9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3316</Words>
  <Application>WPS 演示</Application>
  <PresentationFormat>On-screen Show (4:3)</PresentationFormat>
  <Paragraphs>388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墨竹_zhang</cp:lastModifiedBy>
  <cp:revision>3</cp:revision>
  <dcterms:created xsi:type="dcterms:W3CDTF">2013-01-27T09:14:00Z</dcterms:created>
  <dcterms:modified xsi:type="dcterms:W3CDTF">2026-07-06T03:47:05Z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496A6C41543545AE82C08C8C28B71355_12</vt:lpwstr>
  </property>
</Properties>
</file>